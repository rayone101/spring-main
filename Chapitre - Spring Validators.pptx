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9" r:id="rId2"/>
    <p:sldId id="271" r:id="rId3"/>
    <p:sldId id="272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0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84383" autoAdjust="0"/>
  </p:normalViewPr>
  <p:slideViewPr>
    <p:cSldViewPr snapToGrid="0" snapToObjects="1">
      <p:cViewPr varScale="1">
        <p:scale>
          <a:sx n="110" d="100"/>
          <a:sy n="110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S BEN SALAH" userId="7682de7c-a70f-4473-9a19-f5333d8c176f" providerId="ADAL" clId="{AA530426-658D-40B1-9590-9897EB3E37C4}"/>
    <pc:docChg chg="delSld modSld">
      <pc:chgData name="ONS BEN SALAH" userId="7682de7c-a70f-4473-9a19-f5333d8c176f" providerId="ADAL" clId="{AA530426-658D-40B1-9590-9897EB3E37C4}" dt="2026-07-22T09:01:04.619" v="11" actId="20577"/>
      <pc:docMkLst>
        <pc:docMk/>
      </pc:docMkLst>
      <pc:sldChg chg="del">
        <pc:chgData name="ONS BEN SALAH" userId="7682de7c-a70f-4473-9a19-f5333d8c176f" providerId="ADAL" clId="{AA530426-658D-40B1-9590-9897EB3E37C4}" dt="2026-07-22T09:00:36.606" v="8" actId="47"/>
        <pc:sldMkLst>
          <pc:docMk/>
          <pc:sldMk cId="0" sldId="259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0" sldId="260"/>
        </pc:sldMkLst>
      </pc:sldChg>
      <pc:sldChg chg="modSp mod">
        <pc:chgData name="ONS BEN SALAH" userId="7682de7c-a70f-4473-9a19-f5333d8c176f" providerId="ADAL" clId="{AA530426-658D-40B1-9590-9897EB3E37C4}" dt="2026-07-22T09:00:24.966" v="7" actId="20577"/>
        <pc:sldMkLst>
          <pc:docMk/>
          <pc:sldMk cId="0" sldId="269"/>
        </pc:sldMkLst>
        <pc:spChg chg="mod">
          <ac:chgData name="ONS BEN SALAH" userId="7682de7c-a70f-4473-9a19-f5333d8c176f" providerId="ADAL" clId="{AA530426-658D-40B1-9590-9897EB3E37C4}" dt="2026-07-22T09:00:24.966" v="7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ONS BEN SALAH" userId="7682de7c-a70f-4473-9a19-f5333d8c176f" providerId="ADAL" clId="{AA530426-658D-40B1-9590-9897EB3E37C4}" dt="2026-07-22T09:01:04.619" v="11" actId="20577"/>
        <pc:sldMkLst>
          <pc:docMk/>
          <pc:sldMk cId="1952382407" sldId="271"/>
        </pc:sldMkLst>
        <pc:spChg chg="mod">
          <ac:chgData name="ONS BEN SALAH" userId="7682de7c-a70f-4473-9a19-f5333d8c176f" providerId="ADAL" clId="{AA530426-658D-40B1-9590-9897EB3E37C4}" dt="2026-07-22T09:01:04.619" v="11" actId="20577"/>
          <ac:spMkLst>
            <pc:docMk/>
            <pc:sldMk cId="1952382407" sldId="271"/>
            <ac:spMk id="11" creationId="{4061B9E7-AF13-2758-313F-7A7B9F099D09}"/>
          </ac:spMkLst>
        </pc:spChg>
      </pc:sldChg>
      <pc:sldChg chg="modSp mod">
        <pc:chgData name="ONS BEN SALAH" userId="7682de7c-a70f-4473-9a19-f5333d8c176f" providerId="ADAL" clId="{AA530426-658D-40B1-9590-9897EB3E37C4}" dt="2026-07-22T09:00:44.911" v="9" actId="20577"/>
        <pc:sldMkLst>
          <pc:docMk/>
          <pc:sldMk cId="4094115957" sldId="272"/>
        </pc:sldMkLst>
        <pc:spChg chg="mod">
          <ac:chgData name="ONS BEN SALAH" userId="7682de7c-a70f-4473-9a19-f5333d8c176f" providerId="ADAL" clId="{AA530426-658D-40B1-9590-9897EB3E37C4}" dt="2026-07-22T09:00:44.911" v="9" actId="20577"/>
          <ac:spMkLst>
            <pc:docMk/>
            <pc:sldMk cId="4094115957" sldId="272"/>
            <ac:spMk id="11" creationId="{4BBD4D96-9CB7-905B-B80B-C41AE8A34B19}"/>
          </ac:spMkLst>
        </pc:spChg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918071612" sldId="273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415826838" sldId="274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897113480" sldId="275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15536050" sldId="276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613888419" sldId="277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349524034" sldId="278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10171491" sldId="279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865388960" sldId="281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691297147" sldId="282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144000558" sldId="285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4197072099" sldId="286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771781556" sldId="287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640057876" sldId="288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008707854" sldId="289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424306232" sldId="290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306392927" sldId="291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616678031" sldId="292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713217879" sldId="293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061007146" sldId="294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336087508" sldId="295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34622420" sldId="296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023053054" sldId="297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261346150" sldId="298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616690497" sldId="299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727090756" sldId="300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255068503" sldId="301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573187666" sldId="305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793077634" sldId="306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688000902" sldId="307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62650525" sldId="309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123243886" sldId="310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990558284" sldId="312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937140654" sldId="313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3070191181" sldId="314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520803528" sldId="315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5986326" sldId="316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940871416" sldId="317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2630883867" sldId="318"/>
        </pc:sldMkLst>
      </pc:sldChg>
      <pc:sldChg chg="del">
        <pc:chgData name="ONS BEN SALAH" userId="7682de7c-a70f-4473-9a19-f5333d8c176f" providerId="ADAL" clId="{AA530426-658D-40B1-9590-9897EB3E37C4}" dt="2026-07-22T09:00:54.865" v="10" actId="47"/>
        <pc:sldMkLst>
          <pc:docMk/>
          <pc:sldMk cId="1650257124" sldId="3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584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7510-ADF5-16CC-12EE-FF94C8C3D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04DFE-3B36-EBE7-0E4C-0E26EEC7A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5F8E9-858A-E84E-F164-2B8BA1AD6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0CEFA-F422-9988-5C9B-1F6F6D63A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52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0CBC-E9FF-FF44-0FA0-D14B93B3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4FF13-F8DF-1197-F3FD-667784ED3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4A121-DBB8-6C41-F6D2-997FFFDC9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1B9D3-217C-D8BC-6D97-82662DE6F0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73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5B05-E21C-74C5-42A6-23349A9F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43498-DEAE-EC27-6398-6C2598BE5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015ED-84A8-FBF8-E90B-F9E7DB690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C81C2-283D-7390-4187-E44AD614E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02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F32B5-32BB-D400-97BC-FB9025E8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06F5AD-F3E2-69DF-44B2-462B32CC8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3B55D-3B91-AFCF-02DA-0ACF462BB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52C34-208F-4F90-EA11-E23E3B7163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67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5D02-C52F-263C-B8AF-CA363DED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3D071-2CA4-DE0D-3F5B-1D5BB25CF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9FD66-5C75-B044-5F10-A2535813A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A9780-CC2C-BAA0-B251-07ED852ED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03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A151D-7BA0-FF60-07CF-193F0DFE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96FC6-BFE2-0F1A-645D-8C1D2009F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A4AC2-12A2-EDBE-C84A-6B9E1038B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24EB4-674E-9D49-BDC1-F81AA1724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41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87A01-1A33-B482-CA5C-944A61EF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D4710-79C5-2DD0-B646-54972F384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B56D1-9680-3F86-445E-9DF41AD24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59ED7-3BEB-E63C-C72E-88455B222E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66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7AE06-CFFF-4F85-B627-B58F43464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B9F58-C78F-C5D4-827C-16408E5DC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1C422-832C-53AF-009B-7ACBADF54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72FE2-2B35-75F1-A430-A6DC71D3E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43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5E83-661B-D33D-F3F4-CFCDD7F2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356D4-ACF0-399B-D99D-22C8DCA14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FC202-4642-62FB-2428-4300BA252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44AE9-B565-BE4F-09B7-25047EE81A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31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84BD-16E4-2AF0-A9B2-24CC4812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A012B-505F-2FA1-3446-44079843A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56664-A810-9432-39C9-07D327182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CE052-CEE3-B896-6ADB-928ADE148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2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13CB5-CBEB-5DA0-EA44-1EBED920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7FD6D-0E2C-AB23-344C-210864D00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9466E-61A8-9DFC-AC5D-533D6669E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589F5-DE19-F0B0-9E84-808DE2005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55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87FB7-39BD-F742-402C-779C2B36A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3522E-8498-B273-FD78-6E98981D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E908A7-C86C-EAC6-535F-4C9C080D0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7524F-B784-56B9-6FDA-6AC40C95D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09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7E61-F07D-52D5-2F02-D5AC138E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BCDA3-E7B4-59D5-24B1-207A4CDA7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30DEA-EDA1-0BBB-3AE6-5647D3ACC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5CC71-BF34-A92C-D6A8-42C444DE6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07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F6FC5-968B-93FD-F48B-6EBBFA57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0DF22-83AA-ED43-B155-9391E2722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0F2E5-28F8-F299-2CCE-58BBA34E7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910ED-68F0-3303-2365-4725FC13B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631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31CB9-E053-AE1B-8B3D-A2D6C37B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6DA9A-8FE6-CB24-42F1-BF2DE8099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69C82-13D1-708F-6050-63EE9C306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2AF5B-02D0-9235-9442-DFC0C062A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2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135D9-8AB9-1FCF-9C94-0F2A6E40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9413C-0E34-D469-F1B8-8D4D8D5CE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5C4A5-0969-1EC1-649E-C3F5A3CD9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5D7E5-C2C7-A086-9298-D46A2D12C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50959">
              <a:lnSpc>
                <a:spcPts val="930"/>
              </a:lnSpc>
            </a:pPr>
            <a:fld id="{81D60167-4931-47E6-BA6A-407CBD079E47}" type="slidenum">
              <a:rPr lang="en-GB" spc="-38" smtClean="0"/>
              <a:pPr marL="50959">
                <a:lnSpc>
                  <a:spcPts val="930"/>
                </a:lnSpc>
              </a:pPr>
              <a:t>‹N°›</a:t>
            </a:fld>
            <a:endParaRPr lang="en-GB" spc="-38" dirty="0"/>
          </a:p>
        </p:txBody>
      </p:sp>
    </p:spTree>
    <p:extLst>
      <p:ext uri="{BB962C8B-B14F-4D97-AF65-F5344CB8AC3E}">
        <p14:creationId xmlns:p14="http://schemas.microsoft.com/office/powerpoint/2010/main" val="133973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30" y="182223"/>
            <a:ext cx="2559939" cy="9292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8061" y="1529248"/>
            <a:ext cx="8258821" cy="1739900"/>
          </a:xfrm>
          <a:prstGeom prst="rect">
            <a:avLst/>
          </a:prstGeom>
        </p:spPr>
        <p:txBody>
          <a:bodyPr vert="horz" wrap="square" lIns="0" tIns="79058" rIns="0" bIns="0" rtlCol="0">
            <a:spAutoFit/>
          </a:bodyPr>
          <a:lstStyle/>
          <a:p>
            <a:pPr marL="9525" marR="3810" indent="434340">
              <a:lnSpc>
                <a:spcPts val="4380"/>
              </a:lnSpc>
              <a:spcBef>
                <a:spcPts val="623"/>
              </a:spcBef>
            </a:pPr>
            <a:r>
              <a:rPr lang="en-US" sz="3200" b="1" dirty="0">
                <a:latin typeface="+mn-lt"/>
              </a:rPr>
              <a:t>SPRING WS – Bean Validation</a:t>
            </a:r>
            <a:br>
              <a:rPr lang="en-US" sz="3200" b="1" dirty="0">
                <a:latin typeface="+mn-lt"/>
              </a:rPr>
            </a:br>
            <a:r>
              <a:rPr lang="en-US" sz="32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Données</a:t>
            </a:r>
            <a:br>
              <a:rPr lang="en-US" sz="3200" dirty="0"/>
            </a:b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avec Spring, </a:t>
            </a:r>
            <a:r>
              <a:rPr lang="en-US" sz="3200" b="1" dirty="0" err="1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appliquée</a:t>
            </a: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cs typeface="Calibri" pitchFamily="34" charset="-120"/>
              </a:rPr>
              <a:t> aux DTOs</a:t>
            </a:r>
            <a:endParaRPr sz="3200" b="1" dirty="0">
              <a:solidFill>
                <a:srgbClr val="000000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8254" y="3249063"/>
            <a:ext cx="5218441" cy="5439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772477" marR="758189" indent="2381" algn="ctr">
              <a:lnSpc>
                <a:spcPct val="125000"/>
              </a:lnSpc>
              <a:spcBef>
                <a:spcPts val="75"/>
              </a:spcBef>
            </a:pPr>
            <a:r>
              <a:rPr lang="fr-FR" sz="1600" b="1" spc="-8" dirty="0">
                <a:solidFill>
                  <a:srgbClr val="B12109"/>
                </a:solidFill>
                <a:latin typeface="Calibri"/>
                <a:cs typeface="Calibri"/>
              </a:rPr>
              <a:t>Architecture des SI - UP ASI</a:t>
            </a:r>
          </a:p>
          <a:p>
            <a:pPr marL="772477" marR="758189" indent="2381" algn="ctr">
              <a:lnSpc>
                <a:spcPct val="125000"/>
              </a:lnSpc>
              <a:spcBef>
                <a:spcPts val="75"/>
              </a:spcBef>
            </a:pPr>
            <a:r>
              <a:rPr lang="en-GB" sz="1200" b="1" spc="-8" dirty="0">
                <a:solidFill>
                  <a:srgbClr val="B12109"/>
                </a:solidFill>
                <a:latin typeface="Calibri"/>
                <a:cs typeface="Calibri"/>
              </a:rPr>
              <a:t>Bureaux E204 | E304</a:t>
            </a:r>
            <a:endParaRPr sz="1200" b="1" spc="-8" dirty="0">
              <a:solidFill>
                <a:srgbClr val="B12109"/>
              </a:solidFill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1411" y="4398414"/>
            <a:ext cx="992123" cy="7011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2530" y="-208793"/>
            <a:ext cx="2984087" cy="17581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4506" y="4535691"/>
            <a:ext cx="2048351" cy="4084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4799" y="4506335"/>
            <a:ext cx="1296162" cy="43780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263455"/>
            <a:ext cx="2466593" cy="1680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C2396-75A2-22D8-D3FF-075E8239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F3CB287-8C58-C210-BF6B-61DB069F2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85DD7F1-6907-3B7F-0E50-D1D727FC9D86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4A6E470-18AE-0724-D9F5-3178623E1BFA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108405C-9DC7-055F-C5F7-28F4C1027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02A65F62-8E30-0671-ECAD-65A70836E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14FA5BD0-3139-A1C9-E7F4-4DD0B31A2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E1EBDFF7-5364-33A0-0317-A60535000AA2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</a:t>
            </a:r>
            <a:r>
              <a:rPr lang="en-GB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5FCE5EA-FB06-4946-DDBA-085D92455BC8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061B9E7-AF13-2758-313F-7A7B9F099D09}"/>
              </a:ext>
            </a:extLst>
          </p:cNvPr>
          <p:cNvSpPr/>
          <p:nvPr/>
        </p:nvSpPr>
        <p:spPr>
          <a:xfrm>
            <a:off x="548640" y="749808"/>
            <a:ext cx="8046720" cy="39549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: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données 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(JSR 380) :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Maven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de validation les plus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 annotations sur le DTO (ex.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ProjetDTO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validation avec @Valid dans le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RestController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exploiter les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BindingResult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d'erreur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 exploitable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messages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d'erreur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TP :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DTOs du 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gestion-</a:t>
            </a:r>
            <a:r>
              <a:rPr lang="en-US" sz="14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tests avec Postman</a:t>
            </a:r>
            <a:endParaRPr lang="en-US" sz="1400" dirty="0"/>
          </a:p>
          <a:p>
            <a:pPr>
              <a:lnSpc>
                <a:spcPct val="125000"/>
              </a:lnSpc>
              <a:buSzPct val="100000"/>
            </a:pPr>
            <a:endParaRPr lang="en-US" sz="14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EB414CEB-2A23-3413-E86A-6721FF5DBFB7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888C09F-895B-BD3E-B528-D7766E3A14EC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B1995AF-36D7-3159-A55D-742B84A7A014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2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D8726707-004F-078C-9DFC-929DBABA21C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8B045D-E923-40AC-3491-62FD59426EC0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382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D66AF-F3F8-3E0B-B2B0-7F3ED0B8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84ED077-E7C7-158E-95E4-F2CF137B3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095115B-DF7C-C52C-E55A-D706B2EAA4DB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B8FB23D-6821-986E-D08A-0D56ED600632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F31B682-FDEC-B682-5AA6-7ABE22EE5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B005CDE4-DF76-534E-D17C-9A9580055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1E1A76B1-64E8-5B1A-C885-DDF245501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A91401D8-98F1-F278-FD50-697919DD1221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1239101-3C31-B93A-7829-5F2B12EB0E26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2AB4F8F7-7C35-E1FE-8570-A3B88E9FD064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CE99343-C425-1738-3E1D-ACC6E9BF566C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0E93314-6FEA-D808-100A-7F6CFD60990F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3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5FF3FE07-FE94-C2E1-484B-30D2C2CD9F8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174ED7-9B6F-72D2-1DAF-BB636C2BB511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321D6BD-9BCA-A2AA-38F4-69C16EC2BD42}"/>
              </a:ext>
            </a:extLst>
          </p:cNvPr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valider les données ?</a:t>
            </a:r>
            <a:endParaRPr lang="en-US" sz="18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F01C8AE-304F-EF5D-9EA0-3F995F465878}"/>
              </a:ext>
            </a:extLst>
          </p:cNvPr>
          <p:cNvSpPr/>
          <p:nvPr/>
        </p:nvSpPr>
        <p:spPr>
          <a:xfrm>
            <a:off x="457200" y="132588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Web Service REST reçoit des données envoyées par un client (formulaire, application mobile, autre service) qu'il ne contrôle pas.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contrôle, des données invalides (champ vide, email mal formé, âge négatif, ...) peuvent être enregistrées en base.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côté serveur est indispensable : le client (Angular, mobile, Postman, ...) peut être contourné ou absent de contrôle.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s'appuie sur la spécification Bean Validation pour valider automatiquement les objets reçus dans les contrôleurs REST.</a:t>
            </a:r>
            <a:endParaRPr lang="en-US" sz="15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59B78F98-1997-5369-7FF9-4AF99F23D13F}"/>
              </a:ext>
            </a:extLst>
          </p:cNvPr>
          <p:cNvSpPr/>
          <p:nvPr/>
        </p:nvSpPr>
        <p:spPr>
          <a:xfrm>
            <a:off x="5760720" y="12344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2F6FB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pic>
        <p:nvPicPr>
          <p:cNvPr id="23" name="Image 0" descr="icons/shield.png">
            <a:extLst>
              <a:ext uri="{FF2B5EF4-FFF2-40B4-BE49-F238E27FC236}">
                <a16:creationId xmlns:a16="http://schemas.microsoft.com/office/drawing/2014/main" id="{AF610810-88F3-471A-72BF-E6E39E2290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508760"/>
            <a:ext cx="822960" cy="822960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3874AC54-2F86-83B2-5133-E0EAE0207568}"/>
              </a:ext>
            </a:extLst>
          </p:cNvPr>
          <p:cNvSpPr/>
          <p:nvPr/>
        </p:nvSpPr>
        <p:spPr>
          <a:xfrm>
            <a:off x="57607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Serveur</a:t>
            </a:r>
            <a:endParaRPr lang="en-US" sz="13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C9866CE4-0D3A-050D-0745-5EAFEAF79CB2}"/>
              </a:ext>
            </a:extLst>
          </p:cNvPr>
          <p:cNvSpPr/>
          <p:nvPr/>
        </p:nvSpPr>
        <p:spPr>
          <a:xfrm>
            <a:off x="5897880" y="2743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faire confiance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données entrantes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94115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045B0-65A5-E41F-5F7D-DDD09ECA9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A778F38-6B36-E385-EA73-5EC06BB4B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4337C6D-4163-F1EA-BC24-D39387CE247B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49935F60-7B14-C95D-6442-2E12015EBEDA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A67412FC-F17C-47C3-E0C3-B8226EFD7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18FCB30A-6AFE-816B-56D9-70ABF19AA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48486ED5-14DE-5CF2-6100-D156AF5AC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05BF63A-FCE6-3829-71FF-3EC8A41032EF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AEA2FDB-23A7-5796-BF8C-8EFB90B2EC88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701B57F5-7F5A-30F3-664E-100A93589D21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8AF1ECCE-BBD5-5F03-2C26-FF96EEC1DDBE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803B2CB-D8B6-1A59-90C9-DEEC52C31340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4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A8F480D2-5AC2-3513-DB59-A16A92EE851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026F4F-7E5C-6C79-72E1-A3DB75E9EACB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D7D3547E-DEA5-7F5A-FEE3-EF32923103BD}"/>
              </a:ext>
            </a:extLst>
          </p:cNvPr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valider les données ?</a:t>
            </a:r>
            <a:endParaRPr lang="en-US" sz="18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7F5E05D3-EB89-4C08-F1DE-0B8A5DEDBE70}"/>
              </a:ext>
            </a:extLst>
          </p:cNvPr>
          <p:cNvSpPr/>
          <p:nvPr/>
        </p:nvSpPr>
        <p:spPr>
          <a:xfrm>
            <a:off x="457200" y="137160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BF2F2"/>
          </a:solidFill>
          <a:ln w="12700">
            <a:solidFill>
              <a:srgbClr val="E8D3D3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77E480E-1B52-2767-F159-9BD8878FC761}"/>
              </a:ext>
            </a:extLst>
          </p:cNvPr>
          <p:cNvSpPr/>
          <p:nvPr/>
        </p:nvSpPr>
        <p:spPr>
          <a:xfrm>
            <a:off x="45720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Client</a:t>
            </a:r>
            <a:endParaRPr lang="en-US" sz="16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342831EB-BD4E-5D19-8ADD-3C894AE04493}"/>
              </a:ext>
            </a:extLst>
          </p:cNvPr>
          <p:cNvSpPr/>
          <p:nvPr/>
        </p:nvSpPr>
        <p:spPr>
          <a:xfrm>
            <a:off x="685800" y="19659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immédiat à l'utilisateur (UX)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les allers-retours réseau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Facilement contournable (Postman, requête manuelle, autre client)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Insuffisante seule pour protéger les données</a:t>
            </a:r>
            <a:endParaRPr lang="en-US" sz="135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D0FCDE90-76B6-6F2E-088E-E15BC0359B39}"/>
              </a:ext>
            </a:extLst>
          </p:cNvPr>
          <p:cNvSpPr/>
          <p:nvPr/>
        </p:nvSpPr>
        <p:spPr>
          <a:xfrm>
            <a:off x="4572000" y="137160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2F7F4"/>
          </a:solidFill>
          <a:ln w="12700">
            <a:solidFill>
              <a:srgbClr val="D3E8D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64BC1B50-D30E-EDD7-9622-78664A61FE71}"/>
              </a:ext>
            </a:extLst>
          </p:cNvPr>
          <p:cNvSpPr/>
          <p:nvPr/>
        </p:nvSpPr>
        <p:spPr>
          <a:xfrm>
            <a:off x="4572000" y="1536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8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Serveur (Spring)</a:t>
            </a:r>
            <a:endParaRPr lang="en-US" sz="16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99DAEC91-D408-868B-51A3-638217E45289}"/>
              </a:ext>
            </a:extLst>
          </p:cNvPr>
          <p:cNvSpPr/>
          <p:nvPr/>
        </p:nvSpPr>
        <p:spPr>
          <a:xfrm>
            <a:off x="4800600" y="19659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l'intégrité des données avant persistance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S'applique à tous les clients (Web, mobile, Postman, ...)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Basée sur la spécification Bean Validation (JSR 380)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l'objet de ce cours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95275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8504D-327B-E19D-614C-D4100933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0333E3D-9118-E734-38BB-7018804DD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3C9722A-7C65-65FD-C195-926965CE5B6B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4C2875D-CD61-2FEC-9A95-0F54B0324FD0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D1AC174D-AD05-20B2-9AA3-9BDF840C3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0445B181-6966-B069-701A-CC08B9A9A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A0B5CBE5-06B5-F9C6-FBF9-F409B2159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7828BDEB-CA1B-1590-BB55-93C6B5A17024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(JSR 380)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0B6195D-2F0E-90FF-6641-21A792854818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04D0719-60DD-EC7F-AC16-B15CB0597620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87D94248-AF0A-6805-DE69-6A2120775C5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72130E9-30A0-F08E-3069-D9EDB825E98D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5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2BC339AD-680D-64D2-93CF-49FEC58B16C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6A2677-0CFF-EABE-1DFE-56FB48FD8236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428F6C91-F117-B777-1F5B-FD9308E70287}"/>
              </a:ext>
            </a:extLst>
          </p:cNvPr>
          <p:cNvSpPr/>
          <p:nvPr/>
        </p:nvSpPr>
        <p:spPr>
          <a:xfrm>
            <a:off x="457200" y="91440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est une spécification Java (JSR 380) qui définit un modèle d'annotations pour valider les attributs d'un objet (bean).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Validator est l'implémentation de référence de cette spécification, utilisée par défaut dans Spring Boot.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: on annote les attributs d'un DTO (l'objet réellement reçu par le contrôleur) avec des contraintes (@NotNull, @Size, ...).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déclenche ensuite automatiquement la validation lorsqu'un objet annoté @Valid est reçu dans un contrôleur REST.</a:t>
            </a:r>
            <a:endParaRPr lang="en-US" sz="16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36927751-BB4E-F5D6-8073-C9BB80967C88}"/>
              </a:ext>
            </a:extLst>
          </p:cNvPr>
          <p:cNvSpPr/>
          <p:nvPr/>
        </p:nvSpPr>
        <p:spPr>
          <a:xfrm>
            <a:off x="6263640" y="1188720"/>
            <a:ext cx="2423160" cy="2377440"/>
          </a:xfrm>
          <a:prstGeom prst="roundRect">
            <a:avLst>
              <a:gd name="adj" fmla="val 3077"/>
            </a:avLst>
          </a:prstGeom>
          <a:solidFill>
            <a:srgbClr val="F2F6FB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pic>
        <p:nvPicPr>
          <p:cNvPr id="21" name="Image 0" descr="icons/clipboard.png">
            <a:extLst>
              <a:ext uri="{FF2B5EF4-FFF2-40B4-BE49-F238E27FC236}">
                <a16:creationId xmlns:a16="http://schemas.microsoft.com/office/drawing/2014/main" id="{767CDC8C-977B-78D8-A9FA-F0ABC15975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417320"/>
            <a:ext cx="914400" cy="914400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4B616B3D-AC25-523C-621D-0337A49F4F46}"/>
              </a:ext>
            </a:extLst>
          </p:cNvPr>
          <p:cNvSpPr/>
          <p:nvPr/>
        </p:nvSpPr>
        <p:spPr>
          <a:xfrm>
            <a:off x="6263640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380</a:t>
            </a:r>
            <a:endParaRPr lang="en-US" sz="15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55631C40-1875-E234-1C05-57602C2DCDFC}"/>
              </a:ext>
            </a:extLst>
          </p:cNvPr>
          <p:cNvSpPr/>
          <p:nvPr/>
        </p:nvSpPr>
        <p:spPr>
          <a:xfrm>
            <a:off x="626364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2.0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18252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53DA5-6320-3FE7-A3CF-B37B9DCE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BE6C9CA-FD4E-47F1-5B7A-67ABAC0F5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4950C8B-E6E8-288B-5592-CB0F3B00E984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83DD960-1D1A-5F6B-8CC8-05D4DD7F8B12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97594F73-2969-2160-3FD9-0B5EDA57B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79E44336-E60C-F344-80A1-82D4A904C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11A3DB7-021D-4E2F-51B7-2BA05CBE2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5A2CDC1-9FE7-0F69-C4E0-7FCB33F7BB86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Maven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810E566-86B5-A2C9-331D-D2034B082A2A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D88B8D7-A0EC-E22A-447B-5BE44AB4D38C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DB3DF9D-5CD6-B94F-BEBF-6A677ADED8EE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5790504-8F60-453F-AD2E-85395FD9E065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6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4B31B4F5-B074-0B6F-36BC-77A39442136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FDE71-FA49-AA7F-A8C2-2F8ADA3D8F7E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05B2A20-3B21-1DB0-B156-D1DDB3A32C1A}"/>
              </a:ext>
            </a:extLst>
          </p:cNvPr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activer Bean Validation dans un projet Spring Boot, il suffit d'ajouter le starter suivant dans le </a:t>
            </a:r>
            <a:r>
              <a:rPr lang="en-US" sz="15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puis de faire un Maven update du projet :</a:t>
            </a:r>
            <a:endParaRPr lang="en-US" sz="15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F30188DA-3F00-81CA-1E73-378DE3E3367D}"/>
              </a:ext>
            </a:extLst>
          </p:cNvPr>
          <p:cNvSpPr/>
          <p:nvPr/>
        </p:nvSpPr>
        <p:spPr>
          <a:xfrm>
            <a:off x="713232" y="1645920"/>
            <a:ext cx="7717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springframework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starter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artifactId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dependency</a:t>
            </a: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F6A63B2-B618-5C9E-5A1C-4693AA851AA2}"/>
              </a:ext>
            </a:extLst>
          </p:cNvPr>
          <p:cNvSpPr/>
          <p:nvPr/>
        </p:nvSpPr>
        <p:spPr>
          <a:xfrm>
            <a:off x="457200" y="3154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starter embarque Hibernate Validator, l'implémentation de référence de Bean Validation, ainsi que les annotations standard (</a:t>
            </a:r>
            <a:r>
              <a:rPr lang="en-US" sz="15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@NotNull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@Email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...).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556523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96382-B34B-70E8-62B6-3BE7CA8B2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3991C6-B204-517B-5D12-29C25CD78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BC04ED4-8148-0256-CE21-EC1E6EAED2CE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2CCB592-BBF9-2C2D-3AC5-1CA75726AEC0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3014C15F-5247-CA4F-BBA8-DD3FD1C9B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63D22A0D-248B-1718-8CD8-0B65CEF31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38D00A8A-DF19-47F6-2D89-C81AB6835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168597A-3C29-285B-917D-D0697388FA14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de Validation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Courantes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(1/2)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FCFA524-5014-F4A8-8244-8F0B7976A53A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801D062E-5B29-0886-E922-6A3A080A0CBF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C3C678E-459B-A653-B357-2EEE37C20206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64A61B49-3BB9-786C-46CC-61C26BD9F155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7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CF9C9603-9D95-33B6-C7E3-F6407D61C16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2469A7-6CDD-5FE2-F402-8314B5015BE7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31E9B217-3273-A90A-0A64-D5C73C4AA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33879"/>
              </p:ext>
            </p:extLst>
          </p:nvPr>
        </p:nvGraphicFramePr>
        <p:xfrm>
          <a:off x="551411" y="1048513"/>
          <a:ext cx="7586749" cy="3273550"/>
        </p:xfrm>
        <a:graphic>
          <a:graphicData uri="http://schemas.openxmlformats.org/drawingml/2006/table">
            <a:tbl>
              <a:tblPr/>
              <a:tblGrid>
                <a:gridCol w="1724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7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Annotation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Exemple de champ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7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@NotNull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La valeur ne doit pas être null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 coutProvisoire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7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@NotBlank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Chaîne non nulle et non vide (espaces exclus)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 libelleProjet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7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@NotEmpty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Collection / chaîne non nulle et non vide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List&lt;Equipe&gt; equipes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7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@Size(min, max)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Taille d'une chaîne ou d'une collection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@Size(min=2, max=30)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96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B2526-8625-3A1E-7808-19D7D0F9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F4A2C8B-12D3-F0ED-2B42-6BBDEB9BF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45A2513-68C4-8497-50CE-2A4F686B8181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B46E78C-A0DE-0E0F-8D8B-EB23EA50B9DC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B0E2CFB8-AC64-CAD2-36A1-9B5C040D4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FDE3C77C-422F-EE33-C56B-C2B5C6CFF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D68ACD51-818E-89E8-C2EA-878055B20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73ECCF7-3279-E679-FB83-B4C62A10FA00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de Validation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Courantes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(2/2)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99CC30B-1D68-8169-2B90-C2C97115F5AE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C2789A7-84FA-4EBF-B394-35E6708A6CE2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241E2E2-A68E-C4D6-5982-F49D3D6E5E8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7A96CF4-A274-25DD-E60C-884D43AB1880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8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8215B2B1-F71C-CA19-1D5E-1A5285C0EB2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E9FABF-DEEE-BC61-DAE1-D75CC2DE856D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61B31887-8989-953D-D9AC-CE94F6B1F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0295"/>
              </p:ext>
            </p:extLst>
          </p:nvPr>
        </p:nvGraphicFramePr>
        <p:xfrm>
          <a:off x="831940" y="788638"/>
          <a:ext cx="7233458" cy="3104390"/>
        </p:xfrm>
        <a:graphic>
          <a:graphicData uri="http://schemas.openxmlformats.org/drawingml/2006/table">
            <a:tbl>
              <a:tblPr/>
              <a:tblGrid>
                <a:gridCol w="1643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1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8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Annotation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Exemple de champ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8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@Min / @Max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Valeur numérique minimale / maximale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@Min(0) Long coutProvisoire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8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@Email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Format d'adresse e-mail valide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 email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8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@Pattern(regexp)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La chaîne doit respecter une expression régulière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@Pattern(regexp="^[0-9]{8}$")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8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33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@Past / @Future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Date dans le passé / dans le futur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LocalDate dateDebut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4">
            <a:extLst>
              <a:ext uri="{FF2B5EF4-FFF2-40B4-BE49-F238E27FC236}">
                <a16:creationId xmlns:a16="http://schemas.microsoft.com/office/drawing/2014/main" id="{FFC16F10-24B2-CA2B-7E87-F1EF467A3433}"/>
              </a:ext>
            </a:extLst>
          </p:cNvPr>
          <p:cNvSpPr/>
          <p:nvPr/>
        </p:nvSpPr>
        <p:spPr>
          <a:xfrm>
            <a:off x="831940" y="4171918"/>
            <a:ext cx="7562252" cy="301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complète des annotations est disponible dans le package </a:t>
            </a:r>
            <a:r>
              <a:rPr lang="en-US" sz="1200" i="1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jakarta.validation.constraints</a:t>
            </a: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11310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1130C-2171-887E-7B54-74121F83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741E610-5DDF-5E99-A257-E1CA14592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E2B6F1D-A317-0B66-B086-2FD326FA2B45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C70790E-FF98-F9CC-5FA7-EEA51394BCD8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9B319A68-37F7-B228-BC78-C844EAED8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867BC212-B60B-AEF0-748F-3F86D96F3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C415544-D80A-6426-D86D-EB29A2A3D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0061C701-FEFF-5162-ED61-58EC8A03C75A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Annoter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DTO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ProjetDTO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75C9C78-92BE-C596-C4A1-A079D032C60E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C669DD59-E2AF-AB3A-7390-C9851B20AD57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2CF1D7E-C74F-EDC7-8147-300C3CF6D2D0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FBFBDE6F-A3BB-9AF4-7840-60EAAE02A2D9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9</a:t>
            </a:r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A1B59FF9-85CE-8435-274B-2E7547F538D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2B63CB-A102-98AC-81E1-CFA261BBA52F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A3BFD0A-C201-0016-CB46-9D300320FF02}"/>
              </a:ext>
            </a:extLst>
          </p:cNvPr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Reprenons le </a:t>
            </a:r>
            <a:r>
              <a:rPr lang="en-US" sz="14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ProjetDTO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 DTO issu du mapping avec l'entité Projet) et ajoutons des contraintes de validation sur ses attributs, pas sur l'entité :</a:t>
            </a:r>
            <a:endParaRPr lang="en-US" sz="14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825B559-5BDC-28E4-8992-8C5429909B43}"/>
              </a:ext>
            </a:extLst>
          </p:cNvPr>
          <p:cNvSpPr/>
          <p:nvPr/>
        </p:nvSpPr>
        <p:spPr>
          <a:xfrm>
            <a:off x="621792" y="1371600"/>
            <a:ext cx="79004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ProjetDTO {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 libellé du projet est obligatoire"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3, </a:t>
            </a:r>
            <a:r>
              <a:rPr lang="en-US" sz="12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100, </a:t>
            </a:r>
            <a:r>
              <a:rPr lang="en-US" sz="12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5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 libellé doit contenir entre 3 et 100 caractères"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libelleProjet;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998577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D249C-4681-BB3D-768E-4F658714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24FCF8F-8F04-4730-AB09-B00F2A606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B2E9938-F442-F49D-30E9-4F656DEF1968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60D5CE5-E61C-D05F-CD7E-D6CFBF52A8CC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891D357-3B31-3E5C-0639-FE3725337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54205A1C-FDCA-1D3D-0A6D-ABC8D6D80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DAFCE9F5-F88A-59C6-8BEA-943EB3B6C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5E5A4F15-1E7F-8896-B4C6-8C0F240FC8E3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Validation : @Valid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B2DEDFE-F153-15B2-6D3F-8C82E7952815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84B17707-1915-DD93-940D-74B70AF80A97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AA231C9-D758-7B0D-DC65-428777288B91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2C44E6D-33CC-B360-D517-7B23E43D0E99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10</a:t>
            </a:r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D6718A76-4A88-E4B4-4591-C3B4CF04818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AAB5FF-B312-1A7D-52FF-EA5B71F56083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AD54E98-59FC-A6A5-8509-36FE3308E270}"/>
              </a:ext>
            </a:extLst>
          </p:cNvPr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RestController, on ajoute l'annotation </a:t>
            </a:r>
            <a:r>
              <a:rPr lang="en-US" sz="14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devant le paramètre </a:t>
            </a:r>
            <a:r>
              <a:rPr lang="en-US" sz="14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déclencher la validation automatique de l'objet reçu :</a:t>
            </a:r>
            <a:endParaRPr lang="en-US" sz="14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EE57BE3-5235-4BF4-BACA-0AC8B2C0FBB1}"/>
              </a:ext>
            </a:extLst>
          </p:cNvPr>
          <p:cNvSpPr/>
          <p:nvPr/>
        </p:nvSpPr>
        <p:spPr>
          <a:xfrm>
            <a:off x="621792" y="1508760"/>
            <a:ext cx="79004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@AllArgsConstructor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"/projet"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ProjetRestController {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IProjetService </a:t>
            </a:r>
            <a:r>
              <a:rPr lang="en-US" sz="12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projetService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"/add-projet"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ProjetDTO </a:t>
            </a:r>
            <a:r>
              <a:rPr lang="en-US" sz="125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addProjet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ProjetDTO </a:t>
            </a:r>
            <a:r>
              <a:rPr lang="en-US" sz="12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projetService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5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addProjet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378851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64BF8-A4E8-C704-3A1D-0CB61A97A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DE99E84-215E-2A14-198E-ADB76100B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7701DAA-5B63-94DD-4D88-06E646E4A088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3C89C7C-EE5D-DCD4-6BFF-41F7D31ADA60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FE0CDCB-BFE0-7559-2B53-B48C51E37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1D92BF53-14DD-FBE1-0FDB-20508A5F2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4A761E89-395F-2A8E-E0FD-2F3AA571D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52B9D25-A861-BD31-F136-B735DEBD2A56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C03CADAC-90BE-9C7D-DF90-0BFCE2446836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0250FCA9-8FD6-3C7E-1F2D-0A4FCC5033FA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94285A9-910A-CCA7-EA86-6E2A9F1C89A6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D943CF9-E511-7CD3-CF63-FFD8E9A0F75B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11</a:t>
            </a:r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674EC6E7-D12A-6D84-848B-D1D7E929B55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0B307A-9EAC-64C4-D51D-B340B19DACA3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EBA3A98-69AF-D950-0DD5-B80A400A035C}"/>
              </a:ext>
            </a:extLst>
          </p:cNvPr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l'objet reçu ne respecte pas les contraintes, Spring lève automatiquement une exception MethodArgumentNotValidException.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défaut (sans gestion particulière), Spring renvoie une réponse HTTP 400 Bad Request avec un corps JSON détaillant les champs en erreur.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comportement par défaut est correct mais peu lisible : il est préférable de le personnaliser (voir slide suivante).</a:t>
            </a:r>
            <a:endParaRPr lang="en-US" sz="15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C717816-50FE-A2E1-2575-4F900F7E9F87}"/>
              </a:ext>
            </a:extLst>
          </p:cNvPr>
          <p:cNvSpPr/>
          <p:nvPr/>
        </p:nvSpPr>
        <p:spPr>
          <a:xfrm>
            <a:off x="1261872" y="2834640"/>
            <a:ext cx="66202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HTTP/1.1 400 Bad Request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400,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"errors"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 libellé du projet est obligatoire"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48490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AB556-EE89-0D21-0E70-F6B21B9F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6D68868-4EED-0E0B-9906-44B44AF1F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826E085-182E-56A5-275A-AB21A4F2344D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58A15AA-9FC5-F75B-F66D-672554868FCF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0C4ABFF-E39B-D143-B57E-924061049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54A266CC-0562-B069-94D1-87686BD22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985DD3AD-04E9-7277-235D-711500FE0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BF232C2E-A46B-CBFA-7545-C98DCDC3D53C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BindingResult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B65CCD74-8FB4-0EAE-970A-FA3757E82422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EA5BF5F-DD5A-F017-F2BC-B41A066C8B69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0F5AA8A-2CB2-A424-D591-ACC890E9FC7B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67DA7F3A-3B46-B996-7D3F-05CBA9E6AE95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12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5651ED4B-1427-AC6A-6E72-35DBC4E1367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447624-EDE0-DC83-82D0-8F1D44505459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D14B909-D2BE-9FB3-B7AE-F58E4FBA683A}"/>
              </a:ext>
            </a:extLst>
          </p:cNvPr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ajoutant un paramètre </a:t>
            </a:r>
            <a:r>
              <a:rPr lang="en-US" sz="14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BindingResult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juste après l'objet validé, on peut intercepter soi-même les erreurs plutôt que laisser Spring lever une exception :</a:t>
            </a:r>
            <a:endParaRPr lang="en-US" sz="14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1746CE1-914E-7EEF-681D-4BC5A61B99E4}"/>
              </a:ext>
            </a:extLst>
          </p:cNvPr>
          <p:cNvSpPr/>
          <p:nvPr/>
        </p:nvSpPr>
        <p:spPr>
          <a:xfrm>
            <a:off x="621792" y="1508760"/>
            <a:ext cx="79004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"/add-projet"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ResponseEntity&lt;?&gt; 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addProjet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@RequestBody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ProjetDTO 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BindingResult 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hasErrors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List&lt;String&gt; 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erreurs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getFieldErrors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(FieldError::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getDefaultMessage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(Collectors.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ResponseEntity.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badRequest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erreurs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ResponseEntity.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projetService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addProjet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48820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A7F87-325A-72C9-CF5D-E095DA51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E79E20E-94D8-C2DE-24CA-2A38F4820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42D808E-BAD7-FFBB-E345-34812EF777D4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B601305-3358-DFD5-9BAC-A74ABB0BF822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7CE3685-3EF4-9076-5A88-B7C2B7E70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5CFB5713-3AAE-9F5D-CAEF-BD898A5BC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7104BCF9-0ACE-C9DB-7E77-C43F9F118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63FC5EF-C6B1-4748-3D1A-ED787CBA9236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F136DA4-AA07-4F6E-3C6D-F88C9D771B01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1FC7A32-F23F-5ABC-2908-9158FCBD5A53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E48D342-EC83-A1AD-1B8A-E2C0AB87C396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FC264B00-CDE1-3339-EBC8-9A157AC7372C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13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00C9B820-EE3D-E931-474C-4530773591B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C44B07-61EB-E149-9E81-F97FAC35DF1E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E197425-2A17-8BFA-88DC-35992E7B6834}"/>
              </a:ext>
            </a:extLst>
          </p:cNvPr>
          <p:cNvSpPr/>
          <p:nvPr/>
        </p:nvSpPr>
        <p:spPr>
          <a:xfrm>
            <a:off x="457200" y="8412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que de gérer le </a:t>
            </a:r>
            <a:r>
              <a:rPr lang="en-US" sz="14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BindingResult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chaque méthode, on peut centraliser la gestion des erreurs de validation avec </a:t>
            </a:r>
            <a:r>
              <a:rPr lang="en-US" sz="14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@RestControllerAdvice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14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3E8994B-D787-3285-2C37-4CCA191FA0AA}"/>
              </a:ext>
            </a:extLst>
          </p:cNvPr>
          <p:cNvSpPr/>
          <p:nvPr/>
        </p:nvSpPr>
        <p:spPr>
          <a:xfrm>
            <a:off x="621792" y="1554480"/>
            <a:ext cx="79004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8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@RestControllerAdvice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8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GlobalExceptionHandler {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8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@ExceptionHandler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(MethodArgumentNotValidException.</a:t>
            </a:r>
            <a:r>
              <a:rPr lang="en-US" sz="118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8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ResponseEntity&lt;Map&lt;String, String&gt;&gt; 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handleValidation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MethodArgumentNotValidException </a:t>
            </a:r>
            <a:r>
              <a:rPr lang="en-US" sz="118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Map&lt;String, String&gt; </a:t>
            </a:r>
            <a:r>
              <a:rPr lang="en-US" sz="118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erreurs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8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HashMap&lt;&gt;();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8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getBindingResult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getFieldErrors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8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8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erreurs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8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getField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</a:t>
            </a:r>
            <a:r>
              <a:rPr lang="en-US" sz="118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getDefaultMessage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()));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8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ResponseEntity.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badRequest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80" dirty="0">
                <a:solidFill>
                  <a:srgbClr val="0061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8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erreurs</a:t>
            </a: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8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8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80" dirty="0"/>
          </a:p>
        </p:txBody>
      </p:sp>
    </p:spTree>
    <p:extLst>
      <p:ext uri="{BB962C8B-B14F-4D97-AF65-F5344CB8AC3E}">
        <p14:creationId xmlns:p14="http://schemas.microsoft.com/office/powerpoint/2010/main" val="2390153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6FBAE-D06E-C6EF-D4E1-DAD98818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1132745-9305-292A-51CB-9C8D77651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BCDEF30-2FF2-C137-B692-9200724A7D4B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9C5D688-5464-10E6-37D5-AD5942D2C7E9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4299DCE-FB35-2D69-9F37-1581FCD5C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7F85F1CB-FC21-5FFB-C1D0-799BA755E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4FD08217-F3D7-E9B0-1A4B-9FB4821DC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86200115-2377-64FC-626E-19DBBFC2A181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Claire pour le Client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60B09E3-6A1A-24B5-CF8F-2E9254FA3AE0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72EECF02-D340-ADA5-33C2-0C97E2EC5596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F2B22E3-029B-A4ED-576F-787DC552243E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53EC201-7B5E-4B4E-BC01-D3FF522A02C5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14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316DD5DA-CBB9-5CC2-9FD9-6EAB04D06D4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13EEC9-7820-730A-D0D7-2F627129113A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1C61CE9B-DC42-E566-7B14-59F68EEAABAD}"/>
              </a:ext>
            </a:extLst>
          </p:cNvPr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gestionnaire global mis en place, une requête POST invalide renvoie désormais une réponse claire, directement exploitable par le client (Angular, mobile, Postman, ...) :</a:t>
            </a:r>
            <a:endParaRPr lang="en-US" sz="15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B826E47-92A6-BCB1-B128-8098B1C2EB36}"/>
              </a:ext>
            </a:extLst>
          </p:cNvPr>
          <p:cNvSpPr/>
          <p:nvPr/>
        </p:nvSpPr>
        <p:spPr>
          <a:xfrm>
            <a:off x="987552" y="1783080"/>
            <a:ext cx="7168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</a:t>
            </a:r>
            <a:r>
              <a:rPr lang="en-US" sz="13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</a:t>
            </a: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3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5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HTTP/1.1 400 Bad Request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"libelleProjet"</a:t>
            </a: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5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 libellé du projet est obligatoire"</a:t>
            </a:r>
            <a:endParaRPr lang="en-US" sz="13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pic>
        <p:nvPicPr>
          <p:cNvPr id="21" name="Image 0" descr="icons/check.png">
            <a:extLst>
              <a:ext uri="{FF2B5EF4-FFF2-40B4-BE49-F238E27FC236}">
                <a16:creationId xmlns:a16="http://schemas.microsoft.com/office/drawing/2014/main" id="{2CAF2EFA-F7FA-8B3B-BACC-E6D1C384D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94760"/>
            <a:ext cx="411480" cy="411480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D59E16C6-86C0-DFA4-DB25-E1EFD7EDE4D6}"/>
              </a:ext>
            </a:extLst>
          </p:cNvPr>
          <p:cNvSpPr/>
          <p:nvPr/>
        </p:nvSpPr>
        <p:spPr>
          <a:xfrm>
            <a:off x="1005840" y="3822192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champ en erreur est associé à un message clair et exploitable côté client.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129874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B9B5B-3A4F-0BDD-4990-21CBA232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EBF0789-7370-4139-DBD5-0820E1759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6E11A9F-6178-C448-153E-F4BA61A5322C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BD51C18-934A-0E3F-026C-51C35640DBB9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673333A-CFE6-A2A8-F306-5D6B315F7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07EAD11E-CD83-340E-D8BE-66E6B6513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B833CF09-54CB-B817-F5ED-2457D2FE5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1C7BAC93-8094-3A47-D5F1-42F2B47F536D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Messages </a:t>
            </a:r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d'Erreur</a:t>
            </a:r>
            <a:endParaRPr 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665A3D0-FB38-7C1F-DD39-68E61345F643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18640DBE-6F68-5C09-5B9B-9EB4745E98B3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FF84661-C5AF-ED28-BB46-AA8F2AC78361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53B43F1-EDDD-E535-4D5D-573CE8FD9782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15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1A4AECF2-B1E1-809C-9BC7-FE77B435775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370F2C-3897-CD2E-FE8C-20B29D40A1AE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AFEA5E9-0BEE-293B-17E3-7FEB10E16668}"/>
              </a:ext>
            </a:extLst>
          </p:cNvPr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annotation accepte un attribut </a:t>
            </a:r>
            <a:r>
              <a:rPr lang="en-US" sz="145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remplacer le message par défaut (souvent en anglais) par un message clair, en français :</a:t>
            </a:r>
            <a:endParaRPr lang="en-US" sz="14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A7AAD37C-8D7F-1853-3296-41E1A1B9C0A2}"/>
              </a:ext>
            </a:extLst>
          </p:cNvPr>
          <p:cNvSpPr/>
          <p:nvPr/>
        </p:nvSpPr>
        <p:spPr>
          <a:xfrm>
            <a:off x="621792" y="1508760"/>
            <a:ext cx="7900416" cy="220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@NotBlank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 libellé du projet est obligatoire"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r>
              <a:rPr lang="en-US" sz="13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libelleProjet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@FutureOrPresent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 date de début doit être aujourd'hui ou dans le futur"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LocalDate </a:t>
            </a:r>
            <a:r>
              <a:rPr lang="en-US" sz="13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dateDebut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@Size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10, </a:t>
            </a:r>
            <a:r>
              <a:rPr lang="en-US" sz="13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500, </a:t>
            </a:r>
            <a:r>
              <a:rPr lang="en-US" sz="13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067D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 description doit contenir entre 10 et 500 caractères"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</a:t>
            </a:r>
            <a:r>
              <a:rPr lang="en-US" sz="1300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51FA8C4-7CF9-3AD3-B8DA-21549FF7079D}"/>
              </a:ext>
            </a:extLst>
          </p:cNvPr>
          <p:cNvSpPr/>
          <p:nvPr/>
        </p:nvSpPr>
        <p:spPr>
          <a:xfrm>
            <a:off x="480060" y="38942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</a:t>
            </a: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aussi externaliser tous les messages dans un fichier </a:t>
            </a:r>
            <a:r>
              <a:rPr lang="en-US" sz="1250" i="1" dirty="0">
                <a:solidFill>
                  <a:srgbClr val="860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messages.properties</a:t>
            </a: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préparer l'internationalisation (i18n).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09131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B3734-11DB-97EF-15F3-92195F83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2A336D4-684C-737E-8BC6-3A6819ED9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-45720"/>
            <a:ext cx="1188720" cy="118872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22A7B5B-4144-9B52-BE70-807DF39C4DC9}"/>
              </a:ext>
            </a:extLst>
          </p:cNvPr>
          <p:cNvSpPr/>
          <p:nvPr/>
        </p:nvSpPr>
        <p:spPr>
          <a:xfrm>
            <a:off x="8321040" y="777240"/>
            <a:ext cx="685800" cy="685800"/>
          </a:xfrm>
          <a:prstGeom prst="rtTriangle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34A76A5-ACD7-284B-D7B7-674DEE33B22C}"/>
              </a:ext>
            </a:extLst>
          </p:cNvPr>
          <p:cNvSpPr/>
          <p:nvPr/>
        </p:nvSpPr>
        <p:spPr>
          <a:xfrm>
            <a:off x="8732520" y="274320"/>
            <a:ext cx="411480" cy="411480"/>
          </a:xfrm>
          <a:prstGeom prst="rtTriangl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64C89CEE-F939-F950-4507-669C4A834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73152" y="411480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ED23EB89-FD50-689F-4D7B-8E19A2C7F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20040" y="4434840"/>
            <a:ext cx="320040" cy="320040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43FDE158-9D9A-462E-6EA9-943D081FB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155448"/>
            <a:ext cx="256032" cy="256032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68B8E57A-4274-9C2C-24B6-118012870DE5}"/>
              </a:ext>
            </a:extLst>
          </p:cNvPr>
          <p:cNvSpPr/>
          <p:nvPr/>
        </p:nvSpPr>
        <p:spPr>
          <a:xfrm>
            <a:off x="1993392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r>
              <a:rPr lang="en-GB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A35578EA-FA6B-3307-5313-ED892A4CE625}"/>
              </a:ext>
            </a:extLst>
          </p:cNvPr>
          <p:cNvSpPr/>
          <p:nvPr/>
        </p:nvSpPr>
        <p:spPr>
          <a:xfrm>
            <a:off x="1664208" y="548640"/>
            <a:ext cx="7178040" cy="228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72C00D1-B997-ACE4-4019-F532E0016E84}"/>
              </a:ext>
            </a:extLst>
          </p:cNvPr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083B643-8D9D-314B-29F4-A9EA9F4610AD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632F5B4-C834-1B63-B052-E2A21F7B907D}"/>
              </a:ext>
            </a:extLst>
          </p:cNvPr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</a:rPr>
              <a:t>16</a:t>
            </a:r>
            <a:endParaRPr lang="en-US" sz="900" dirty="0"/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6474DBB9-39AE-F81C-6D6F-32577927D9D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8479"/>
            <a:ext cx="1591056" cy="537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3D536D-39C3-B1EA-60F3-AFAF0B79538E}"/>
              </a:ext>
            </a:extLst>
          </p:cNvPr>
          <p:cNvSpPr txBox="1"/>
          <p:nvPr/>
        </p:nvSpPr>
        <p:spPr>
          <a:xfrm>
            <a:off x="2790259" y="4864105"/>
            <a:ext cx="3563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49"/>
              </a:spcBef>
            </a:pPr>
            <a:r>
              <a:rPr lang="fr-FR" sz="1050" b="1" dirty="0"/>
              <a:t>© 2025-2026 – ESPRIT – UP ASI – Module Architecture des SI </a:t>
            </a:r>
            <a:endParaRPr lang="en-GB" sz="1050" b="1" dirty="0">
              <a:latin typeface="Calibri"/>
              <a:cs typeface="Calibri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1CBA69C0-9080-8071-DF25-FB721CEDA6F5}"/>
              </a:ext>
            </a:extLst>
          </p:cNvPr>
          <p:cNvSpPr/>
          <p:nvPr/>
        </p:nvSpPr>
        <p:spPr>
          <a:xfrm>
            <a:off x="548640" y="960120"/>
            <a:ext cx="502920" cy="502920"/>
          </a:xfrm>
          <a:prstGeom prst="ellipse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D06C9DF-7EC3-191D-6665-19BEF4B6675A}"/>
              </a:ext>
            </a:extLst>
          </p:cNvPr>
          <p:cNvSpPr/>
          <p:nvPr/>
        </p:nvSpPr>
        <p:spPr>
          <a:xfrm>
            <a:off x="1234440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la dépendance spring-boot-starter-validation au pom.xml</a:t>
            </a:r>
            <a:endParaRPr lang="en-US" sz="15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2336ECF-280A-8A2F-1DD7-524C18C8C93B}"/>
              </a:ext>
            </a:extLst>
          </p:cNvPr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37816ED-9408-B164-290B-622F2008655C}"/>
              </a:ext>
            </a:extLst>
          </p:cNvPr>
          <p:cNvSpPr/>
          <p:nvPr/>
        </p:nvSpPr>
        <p:spPr>
          <a:xfrm>
            <a:off x="1234440" y="1737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Annoter les attributs du DTO (et non de l'entité) avec les contraintes Bean Validation</a:t>
            </a:r>
            <a:endParaRPr lang="en-US" sz="15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B9AD9A0B-0972-F876-6918-DA3CEFDF1DB6}"/>
              </a:ext>
            </a:extLst>
          </p:cNvPr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826E6F70-0F9C-93DB-6D26-A16D262199B0}"/>
              </a:ext>
            </a:extLst>
          </p:cNvPr>
          <p:cNvSpPr/>
          <p:nvPr/>
        </p:nvSpPr>
        <p:spPr>
          <a:xfrm>
            <a:off x="123444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@Valid devant @RequestBody dans le RestController</a:t>
            </a:r>
            <a:endParaRPr lang="en-US" sz="15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C01DD693-27CA-CEBE-5BBC-B3AB9FE99288}"/>
              </a:ext>
            </a:extLst>
          </p:cNvPr>
          <p:cNvSpPr/>
          <p:nvPr/>
        </p:nvSpPr>
        <p:spPr>
          <a:xfrm>
            <a:off x="564988" y="251774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72DC2414-66E2-0037-9015-9D3F0ECC91DB}"/>
              </a:ext>
            </a:extLst>
          </p:cNvPr>
          <p:cNvSpPr/>
          <p:nvPr/>
        </p:nvSpPr>
        <p:spPr>
          <a:xfrm>
            <a:off x="1234440" y="3291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erreurs (BindingResult ou @RestControllerAdvice global)</a:t>
            </a:r>
            <a:endParaRPr lang="en-US" sz="1500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D9652CCD-80AC-1F0C-8962-C992A3B4B1FE}"/>
              </a:ext>
            </a:extLst>
          </p:cNvPr>
          <p:cNvSpPr/>
          <p:nvPr/>
        </p:nvSpPr>
        <p:spPr>
          <a:xfrm>
            <a:off x="520928" y="1770610"/>
            <a:ext cx="502920" cy="502920"/>
          </a:xfrm>
          <a:prstGeom prst="ellipse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1" name="Shape 4">
            <a:extLst>
              <a:ext uri="{FF2B5EF4-FFF2-40B4-BE49-F238E27FC236}">
                <a16:creationId xmlns:a16="http://schemas.microsoft.com/office/drawing/2014/main" id="{A6319445-1A22-9463-6C96-BC03BD02E8EA}"/>
              </a:ext>
            </a:extLst>
          </p:cNvPr>
          <p:cNvSpPr/>
          <p:nvPr/>
        </p:nvSpPr>
        <p:spPr>
          <a:xfrm>
            <a:off x="514003" y="3273832"/>
            <a:ext cx="502920" cy="502920"/>
          </a:xfrm>
          <a:prstGeom prst="ellipse">
            <a:avLst/>
          </a:prstGeom>
          <a:solidFill>
            <a:srgbClr val="4F81BD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A046A68C-6352-A418-127D-75CC6CA0CE4D}"/>
              </a:ext>
            </a:extLst>
          </p:cNvPr>
          <p:cNvSpPr/>
          <p:nvPr/>
        </p:nvSpPr>
        <p:spPr>
          <a:xfrm>
            <a:off x="514003" y="177698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AE0093DE-99D0-28AB-C662-DADFD5DFD707}"/>
              </a:ext>
            </a:extLst>
          </p:cNvPr>
          <p:cNvSpPr/>
          <p:nvPr/>
        </p:nvSpPr>
        <p:spPr>
          <a:xfrm>
            <a:off x="520928" y="950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36837B58-A178-5AF3-28DC-DEC6AC1BB651}"/>
              </a:ext>
            </a:extLst>
          </p:cNvPr>
          <p:cNvSpPr/>
          <p:nvPr/>
        </p:nvSpPr>
        <p:spPr>
          <a:xfrm>
            <a:off x="514003" y="32772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76390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36CB0-993B-8758-E47B-4C392CC19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3541F81D-4498-1025-FFE4-C69A4FB63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9087"/>
            <a:ext cx="9144000" cy="4845326"/>
          </a:xfrm>
          <a:prstGeom prst="rect">
            <a:avLst/>
          </a:prstGeom>
        </p:spPr>
      </p:pic>
      <p:pic>
        <p:nvPicPr>
          <p:cNvPr id="24" name="object 2">
            <a:extLst>
              <a:ext uri="{FF2B5EF4-FFF2-40B4-BE49-F238E27FC236}">
                <a16:creationId xmlns:a16="http://schemas.microsoft.com/office/drawing/2014/main" id="{40D2318C-B381-4F89-89C8-9C405C32526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4223" y="403072"/>
            <a:ext cx="1591056" cy="53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40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1565</Words>
  <Application>Microsoft Office PowerPoint</Application>
  <PresentationFormat>Affichage à l'écran (16:9)</PresentationFormat>
  <Paragraphs>217</Paragraphs>
  <Slides>17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SPRING WS – Bean Validation Validation des Données avec Spring, appliquée aux DTOs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ESPRIT</dc:title>
  <dc:subject>PptxGenJS Presentation</dc:subject>
  <dc:creator>PptxGenJS</dc:creator>
  <cp:lastModifiedBy>Mohamed Khaled HAMROUNI</cp:lastModifiedBy>
  <cp:revision>19</cp:revision>
  <dcterms:created xsi:type="dcterms:W3CDTF">2026-05-13T18:28:21Z</dcterms:created>
  <dcterms:modified xsi:type="dcterms:W3CDTF">2026-07-24T14:01:27Z</dcterms:modified>
</cp:coreProperties>
</file>